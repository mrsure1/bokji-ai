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수집 분포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F46E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F6F-4F92-BAC5-2542633FA2CC}"/>
              </c:ext>
            </c:extLst>
          </c:dPt>
          <c:dPt>
            <c:idx val="1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F6F-4F92-BAC5-2542633FA2CC}"/>
              </c:ext>
            </c:extLst>
          </c:dPt>
          <c:dPt>
            <c:idx val="2"/>
            <c:bubble3D val="0"/>
            <c:spPr>
              <a:solidFill>
                <a:srgbClr val="A5B4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F6F-4F92-BAC5-2542633FA2C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맑은 고딕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F6F-4F92-BAC5-2542633FA2C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맑은 고딕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F6F-4F92-BAC5-2542633FA2CC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맑은 고딕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F6F-4F92-BAC5-2542633FA2C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정부24 공공서비스</c:v>
                </c:pt>
                <c:pt idx="1">
                  <c:v>복지로 지자체</c:v>
                </c:pt>
                <c:pt idx="2">
                  <c:v>복지로 중앙부처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10962</c:v>
                </c:pt>
                <c:pt idx="1">
                  <c:v>4561</c:v>
                </c:pt>
                <c:pt idx="2">
                  <c:v>448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F6F-4F92-BAC5-2542633FA2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9985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rotWithShape="1">
          <a:gsLst>
            <a:gs pos="0">
              <a:srgbClr val="3730A3"/>
            </a:gs>
            <a:gs pos="55000">
              <a:srgbClr val="4338CA"/>
            </a:gs>
            <a:gs pos="100000">
              <a:srgbClr val="4F46E5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7160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solid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14400" cy="9144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♥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920240" y="141732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복지AI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651760"/>
            <a:ext cx="10515600" cy="5486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EF2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어려운 행정 용어 장벽을 허무는 맞춤형 복지 혜택 알리미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10515600" cy="36576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2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bokji-ai 서비스 소개자료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9F6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팀  </a:t>
            </a: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AI르네상스</a:t>
            </a:r>
            <a:r>
              <a:rPr lang="en-US" sz="1500" dirty="0">
                <a:solidFill>
                  <a:srgbClr val="EEF2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·   이진영 · 정호식 · 김경숙 · 김지선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F6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웹앱 데모  </a:t>
            </a:r>
            <a:r>
              <a:rPr lang="en-US" sz="1400" u="sng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https://bokji-ai.vercel.app/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 rotWithShape="1">
          <a:gsLst>
            <a:gs pos="0">
              <a:srgbClr val="3730A3"/>
            </a:gs>
            <a:gs pos="55000">
              <a:srgbClr val="4338CA"/>
            </a:gs>
            <a:gs pos="100000">
              <a:srgbClr val="4F46E5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5486400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 배경 및 문제 정의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10332720" cy="82296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EEF2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수많은 복지 혜택 속에서도, 왜 정보 취약계층은 혜택을 놓치고 있을까요?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복지 서비스의 페인 포인트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463040"/>
            <a:ext cx="54406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68680" y="1828800"/>
            <a:ext cx="384048" cy="384048"/>
          </a:xfrm>
          <a:prstGeom prst="ellipse">
            <a:avLst/>
          </a:prstGeom>
          <a:solidFill>
            <a:srgbClr val="4F46E5"/>
          </a:solidFill>
          <a:ln>
            <a:solid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384048" cy="384048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17320" y="1828800"/>
            <a:ext cx="4389120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730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어려운 행정 용어 장벽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754880" cy="30175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‘소득인정액’, ‘중위소득’, ‘위기사유’ 등 복잡하고 딱딱한 법적 행정 용어 때문에, 정작 도움이 필요한 정보 취약계층·고령층이 신청 초기 단계부터 큰 심리적 부담을 느끼고 포기하게 됩니다.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45352" y="1463040"/>
            <a:ext cx="54406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611112" y="1828800"/>
            <a:ext cx="384048" cy="384048"/>
          </a:xfrm>
          <a:prstGeom prst="ellipse">
            <a:avLst/>
          </a:prstGeom>
          <a:solidFill>
            <a:srgbClr val="4F46E5"/>
          </a:solidFill>
          <a:ln>
            <a:solid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611112" y="1828800"/>
            <a:ext cx="384048" cy="384048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59752" y="1828800"/>
            <a:ext cx="4389120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730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 비대칭 · 타이밍 상실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611112" y="2514600"/>
            <a:ext cx="4754880" cy="30175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중앙부처·지자체에 파편화된 복지 사업은 </a:t>
            </a: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15,981건</a:t>
            </a:r>
            <a:r>
              <a:rPr lang="en-US" sz="15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달합니다. 하지만 복잡한 자격 요건을 직접 매칭해 볼 시간이 없거나 방법을 몰라, 신청 마감 기한을 놓치기 일쑤입니다.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14 · 기획 배경 및 문제 정의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0" y="6437376"/>
            <a:ext cx="6199632" cy="2743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AI르네상스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중심의 직관적 화면 설계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097280"/>
            <a:ext cx="10972800" cy="36576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행정 용어를 전혀 몰라도, 모바일에서 한눈에 파악하는 완전 자동 매칭 화면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532120" cy="1920240"/>
          </a:xfrm>
          <a:prstGeom prst="roundRect">
            <a:avLst>
              <a:gd name="adj" fmla="val 5714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194767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>
            <a:solid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457200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874520"/>
            <a:ext cx="4297680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730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복지 상담 창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63040" y="2377440"/>
            <a:ext cx="4389120" cy="9144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338C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일상 자연어로 말하면 최적의 추천 혜택을 즉시 카드로 분류합니다.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1600200"/>
            <a:ext cx="5532120" cy="1920240"/>
          </a:xfrm>
          <a:prstGeom prst="roundRect">
            <a:avLst>
              <a:gd name="adj" fmla="val 5714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565392" y="194767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>
            <a:solid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565392" y="1947672"/>
            <a:ext cx="457200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05472" y="1874520"/>
            <a:ext cx="4297680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730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보관함 · 체크리스트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05472" y="2377440"/>
            <a:ext cx="4389120" cy="9144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338C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서류 준비 상태와 신청 마감일을 항목별로 관리합니다.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5532120" cy="1920240"/>
          </a:xfrm>
          <a:prstGeom prst="roundRect">
            <a:avLst>
              <a:gd name="adj" fmla="val 5714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22960" y="409651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>
            <a:solid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22960" y="4096512"/>
            <a:ext cx="457200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023360"/>
            <a:ext cx="4297680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730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알림 피드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63040" y="4526280"/>
            <a:ext cx="4389120" cy="9144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338C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마감 임박·관심 분야 신규 혜택을 앱 알림으로 선제 안내합니다.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45352" y="3749040"/>
            <a:ext cx="5532120" cy="1920240"/>
          </a:xfrm>
          <a:prstGeom prst="roundRect">
            <a:avLst>
              <a:gd name="adj" fmla="val 5714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565392" y="409651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>
            <a:solid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565392" y="4096512"/>
            <a:ext cx="457200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05472" y="4023360"/>
            <a:ext cx="4297680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730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정보(프로필)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05472" y="4526280"/>
            <a:ext cx="4389120" cy="9144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338C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완성도 게이지를 채울수록 매칭 정확도가 올라갑니다.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14 · 기획 배경 및 문제 정의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0" y="6437376"/>
            <a:ext cx="6199632" cy="2743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AI르네상스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gradFill rotWithShape="1">
          <a:gsLst>
            <a:gs pos="0">
              <a:srgbClr val="3730A3"/>
            </a:gs>
            <a:gs pos="55000">
              <a:srgbClr val="4338CA"/>
            </a:gs>
            <a:gs pos="100000">
              <a:srgbClr val="4F46E5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5486400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 및 기술 구조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10332720" cy="82296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EEF2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강력한 Google Gemini LLM과 pgvector 임베딩 기술이 만난 맞춤형 복지 솔루션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기반 핵심 사용자 경험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554480"/>
            <a:ext cx="3584448" cy="420624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95528" y="1874520"/>
            <a:ext cx="384048" cy="384048"/>
          </a:xfrm>
          <a:prstGeom prst="ellipse">
            <a:avLst/>
          </a:prstGeom>
          <a:solidFill>
            <a:srgbClr val="4F46E5"/>
          </a:solidFill>
          <a:ln>
            <a:solid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95528" y="1874520"/>
            <a:ext cx="384048" cy="384048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3108960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730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복지 상담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3063240" cy="265176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“퇴사해서 월세 내기 힘들어” 같은 일상어는 물론, ‘월세’ 같은 정해진 단어가 없는 ‘집값이 버거워’ 같은 막연한 표현도 키워드+벡터 하이브리드(RRF)로 의미를 파악해 매칭합니다.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06824" y="1554480"/>
            <a:ext cx="3584448" cy="420624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99432" y="1874520"/>
            <a:ext cx="384048" cy="384048"/>
          </a:xfrm>
          <a:prstGeom prst="ellipse">
            <a:avLst/>
          </a:prstGeom>
          <a:solidFill>
            <a:srgbClr val="4F46E5"/>
          </a:solidFill>
          <a:ln>
            <a:solid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99432" y="1874520"/>
            <a:ext cx="384048" cy="384048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81144" y="2423160"/>
            <a:ext cx="3108960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730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쉬운 말 요약 서비스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81144" y="2926080"/>
            <a:ext cx="3063240" cy="265176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복잡한 정부 공고 원문을 초등학생도 이해할 템플릿형 요약(한 줄 요약·대상자·서류·일정·용어 풀이)으로 자동 변환합니다.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10728" y="1554480"/>
            <a:ext cx="3584448" cy="4206240"/>
          </a:xfrm>
          <a:prstGeom prst="roundRect">
            <a:avLst>
              <a:gd name="adj" fmla="val 3061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403336" y="1874520"/>
            <a:ext cx="384048" cy="384048"/>
          </a:xfrm>
          <a:prstGeom prst="ellipse">
            <a:avLst/>
          </a:prstGeom>
          <a:solidFill>
            <a:srgbClr val="0D9488"/>
          </a:solidFill>
          <a:ln>
            <a:solid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403336" y="1874520"/>
            <a:ext cx="384048" cy="384048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85048" y="2423160"/>
            <a:ext cx="3108960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730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선제적 앱 알림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85048" y="2926080"/>
            <a:ext cx="3063240" cy="265176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자동 동기화되는 새 공고와 사용자 프로필 조건을 매칭해, 추천 가능성이 높은 기회를 앱 알림으로 선제 안내합니다.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14 · 핵심 기능 및 기술 구조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0" y="6437376"/>
            <a:ext cx="6199632" cy="2743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AI르네상스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복잡한 공공 데이터, 한곳으로 모았습니다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463040"/>
            <a:ext cx="358444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3108960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730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복지로 중앙부처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2240280"/>
            <a:ext cx="3063240" cy="11887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국민을 위한 핵심 복지 정보를 중앙 시스템에서 수집합니다.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3520440"/>
            <a:ext cx="3108960" cy="2743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 규모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3749040"/>
            <a:ext cx="3108960" cy="5486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448 건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06824" y="1463040"/>
            <a:ext cx="358444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81144" y="1691640"/>
            <a:ext cx="3108960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730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복지로 지자체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81144" y="2240280"/>
            <a:ext cx="3063240" cy="11887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동네만의 특별한 혜택까지 놓치지 않도록 통합합니다.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81144" y="3520440"/>
            <a:ext cx="3108960" cy="2743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 규모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81144" y="3749040"/>
            <a:ext cx="3108960" cy="5486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4,561 건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110728" y="1463040"/>
            <a:ext cx="358444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385048" y="1691640"/>
            <a:ext cx="3108960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730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정부24 공공서비스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85048" y="2240280"/>
            <a:ext cx="3063240" cy="11887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분산된 다양한 공공 서비스를 하나로 묶어 통합 관리합니다.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85048" y="3520440"/>
            <a:ext cx="3108960" cy="2743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 규모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85048" y="3749040"/>
            <a:ext cx="3108960" cy="5486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10,962 건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02920" y="4709160"/>
            <a:ext cx="11183112" cy="109728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solid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22960" y="4892040"/>
            <a:ext cx="1828800" cy="7315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30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합계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468880" y="4892040"/>
            <a:ext cx="8961120" cy="7315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730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15,981</a:t>
            </a:r>
            <a:r>
              <a:rPr lang="en-US" sz="1800" dirty="0">
                <a:solidFill>
                  <a:srgbClr val="3730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건  </a:t>
            </a:r>
            <a:r>
              <a:rPr lang="en-US" sz="1400" dirty="0">
                <a:solidFill>
                  <a:srgbClr val="4338C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매일 자동 갱신(GitHub Actions)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14 · 핵심 기능 및 기술 구조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0" y="6437376"/>
            <a:ext cx="6199632" cy="2743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AI르네상스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복지 서비스 수집 분포 분석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640080" y="1554480"/>
          <a:ext cx="54864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3429000"/>
            <a:ext cx="5486400" cy="5486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730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15,981건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6766560" y="2176272"/>
            <a:ext cx="274320" cy="274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223760" y="2103120"/>
            <a:ext cx="4572000" cy="36576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정부24 공공서비스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223760" y="2468880"/>
            <a:ext cx="4572000" cy="36576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10,962건 (68.6%)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766560" y="3090672"/>
            <a:ext cx="274320" cy="2743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7223760" y="3017520"/>
            <a:ext cx="4572000" cy="36576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복지로 지자체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223760" y="3383280"/>
            <a:ext cx="4572000" cy="36576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4,561건 (28.5%)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766560" y="4005072"/>
            <a:ext cx="274320" cy="274320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223760" y="3931920"/>
            <a:ext cx="4572000" cy="36576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복지로 중앙부처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223760" y="4297680"/>
            <a:ext cx="4572000" cy="36576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448건 (2.8%)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766560" y="4983480"/>
            <a:ext cx="4937760" cy="82296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정부24가 전체의 약 2/3를 차지하며, 복지로 지자체가 ‘우리 동네’ 밀착형 혜택을 보강합니다.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14 · 핵심 기능 및 기술 구조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486400" y="6437376"/>
            <a:ext cx="6199632" cy="2743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AI르네상스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개발 및 서비스 로드맵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64592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2194560" cy="6400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2240280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기획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2240280" cy="18288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EF2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PRD·TRD 확정, 공공 API 동기화 파이프라인 및 정규화 체계 완비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5074920"/>
            <a:ext cx="2240280" cy="3200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구현 완료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19272" y="164592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547872" y="1874520"/>
            <a:ext cx="2194560" cy="6400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47872" y="2560320"/>
            <a:ext cx="2240280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핵심 설계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47872" y="3108960"/>
            <a:ext cx="2240280" cy="18288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EF2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Gemini LLM 탑재, pgvector RAG 임베딩 및 키워드+벡터 하이브리드 검색 구현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47872" y="5074920"/>
            <a:ext cx="2240280" cy="3200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구현 완료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35624" y="164592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364224" y="1874520"/>
            <a:ext cx="2194560" cy="6400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64224" y="2560320"/>
            <a:ext cx="2240280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MVP 런칭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64224" y="3108960"/>
            <a:ext cx="2240280" cy="18288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EF2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반응형 웹앱(Vercel) 배포, 대화형 매칭 채팅·상세 카드·앱 알림 연동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64224" y="5074920"/>
            <a:ext cx="2240280" cy="3200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구현 완료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51976" y="164592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180576" y="1874520"/>
            <a:ext cx="2194560" cy="6400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180576" y="2560320"/>
            <a:ext cx="2240280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고도화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80576" y="3108960"/>
            <a:ext cx="2240280" cy="18288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PWA·카카오 알림톡 연동, 공공 마이데이터 기반 소득·자격 자동 파싱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80576" y="5074920"/>
            <a:ext cx="2240280" cy="3200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예정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14 · 향후 서비스 전망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0" y="6437376"/>
            <a:ext cx="6199632" cy="2743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AI르네상스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지연 없는 실시간 하이브리드 RAG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554480"/>
            <a:ext cx="4023360" cy="4206240"/>
          </a:xfrm>
          <a:prstGeom prst="roundRect">
            <a:avLst>
              <a:gd name="adj" fmla="val 2727"/>
            </a:avLst>
          </a:prstGeom>
          <a:solidFill>
            <a:srgbClr val="3730A3"/>
          </a:solidFill>
          <a:ln>
            <a:solid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3749040" cy="10972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15,981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3749040" cy="9144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EEF2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수집·정규화·임베딩 완료된 혜택 수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EEF2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(벡터 임베딩 100% 적재)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0" y="1600200"/>
            <a:ext cx="6858000" cy="15544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입력 시점에 느린 외부 공공 API를 매번 호출하지 않습니다. 매일 새벽 자동 동기화·전처리된 통합 DB 내부에서 pgvector 하이브리드 인덱싱으로 즉시 조회하여, 수 초 내에 정확한 상황 해석 상담 결과를 출력합니다.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3429000"/>
            <a:ext cx="164592" cy="164592"/>
          </a:xfrm>
          <a:prstGeom prst="ellipse">
            <a:avLst/>
          </a:prstGeom>
          <a:solidFill>
            <a:srgbClr val="4F46E5"/>
          </a:solidFill>
          <a:ln>
            <a:solid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166360" y="3383280"/>
            <a:ext cx="6492240" cy="7315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 + 벡터 하이브리드(RRF)  </a:t>
            </a:r>
            <a:r>
              <a:rPr lang="en-US" sz="13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 일치와 의미 검색을 결합해 사전에 없는 일상어도 매칭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846320" y="4251960"/>
            <a:ext cx="164592" cy="164592"/>
          </a:xfrm>
          <a:prstGeom prst="ellipse">
            <a:avLst/>
          </a:prstGeom>
          <a:solidFill>
            <a:srgbClr val="4F46E5"/>
          </a:solidFill>
          <a:ln>
            <a:solid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166360" y="4206240"/>
            <a:ext cx="6492240" cy="7315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자동 갱신 · 무료 운영  </a:t>
            </a:r>
            <a:r>
              <a:rPr lang="en-US" sz="13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Actions로 매일 새벽 수집 + 임베딩을 자동 실행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846320" y="5074920"/>
            <a:ext cx="164592" cy="164592"/>
          </a:xfrm>
          <a:prstGeom prst="ellipse">
            <a:avLst/>
          </a:prstGeom>
          <a:solidFill>
            <a:srgbClr val="4F46E5"/>
          </a:solidFill>
          <a:ln>
            <a:solid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166360" y="5029200"/>
            <a:ext cx="6492240" cy="7315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없는 다중 사용자  </a:t>
            </a:r>
            <a:r>
              <a:rPr lang="en-US" sz="13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기기별 계정으로 여러 사용자가 동시에 각자 데이터 사용(Supabase)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14 · 기술 경쟁력 및 고도화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0" y="6437376"/>
            <a:ext cx="6199632" cy="2743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AI르네상스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지속 가능한 복지 생태계를 위한 수익화 모델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554480"/>
            <a:ext cx="3584448" cy="420624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584448" cy="822960"/>
          </a:xfrm>
          <a:prstGeom prst="roundRect">
            <a:avLst>
              <a:gd name="adj" fmla="val 13333"/>
            </a:avLst>
          </a:prstGeom>
          <a:solidFill>
            <a:srgbClr val="3730A3"/>
          </a:solidFill>
          <a:ln>
            <a:solid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3017520" cy="82296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B2G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560320"/>
            <a:ext cx="3108960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730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지자체 협업 모델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3108960" cy="24688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행정 효율화 및 자동 안내 발송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연동료 기반 구독 매출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 데이터 기반 맞춤 행정 지원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06824" y="1554480"/>
            <a:ext cx="3584448" cy="420624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306824" y="1554480"/>
            <a:ext cx="3584448" cy="822960"/>
          </a:xfrm>
          <a:prstGeom prst="roundRect">
            <a:avLst>
              <a:gd name="adj" fmla="val 13333"/>
            </a:avLst>
          </a:prstGeom>
          <a:solidFill>
            <a:srgbClr val="3730A3"/>
          </a:solidFill>
          <a:ln>
            <a:solid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81144" y="1554480"/>
            <a:ext cx="3017520" cy="82296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B2B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81144" y="2560320"/>
            <a:ext cx="3108960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730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EAP 패키지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81144" y="3108960"/>
            <a:ext cx="3108960" cy="24688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주거·돌봄·교육 복지 원스톱 매칭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혜택 확인 및 신청 연동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기업별 맞춤 임직원 복지 큐레이션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10728" y="1554480"/>
            <a:ext cx="3584448" cy="420624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110728" y="1554480"/>
            <a:ext cx="3584448" cy="822960"/>
          </a:xfrm>
          <a:prstGeom prst="roundRect">
            <a:avLst>
              <a:gd name="adj" fmla="val 13333"/>
            </a:avLst>
          </a:prstGeom>
          <a:solidFill>
            <a:srgbClr val="3730A3"/>
          </a:solidFill>
          <a:ln>
            <a:solid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385048" y="1554480"/>
            <a:ext cx="3017520" cy="82296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B2C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85048" y="2560320"/>
            <a:ext cx="3108960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730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프리미엄 부가 서비스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85048" y="3108960"/>
            <a:ext cx="3108960" cy="24688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증빙 서류 원클릭 준비 대행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 사회복지사 1:1 상담 매칭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마이데이터 기반 자격 자동 파싱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14 · 비즈니스 모델 및 수익화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0" y="6437376"/>
            <a:ext cx="6199632" cy="2743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AI르네상스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 소외 없는 전방위 유저 획득 및 마케팅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554480"/>
            <a:ext cx="55321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오프라인 연계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4937760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 기반 오프라인 기관 연계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4937760" cy="18288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177800" indent="-1778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복지관·시·구청·주민센터 QR 리플렛 비치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일선 복지사 대상 전용 상담 도구 무상 지원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취약계층 밀착형 신뢰 네트워크 구축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554480"/>
            <a:ext cx="55321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565392" y="1783080"/>
            <a:ext cx="4937760" cy="36576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온라인 SEO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65392" y="2148840"/>
            <a:ext cx="4937760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기반 자연어 키워드 마케팅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65392" y="2697480"/>
            <a:ext cx="4937760" cy="18288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177800" indent="-1778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“퇴사 실업급여 조건”, “청년 월세” 등 검색 의도 공략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‘쉬운 말 요약’ 콘텐츠의 검색 상단 노출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개인화 답변으로 유기적 트래픽 확보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4892040"/>
            <a:ext cx="11183112" cy="868680"/>
          </a:xfrm>
          <a:prstGeom prst="roundRect">
            <a:avLst>
              <a:gd name="adj" fmla="val 12632"/>
            </a:avLst>
          </a:prstGeom>
          <a:solidFill>
            <a:srgbClr val="EEF2FF"/>
          </a:solidFill>
          <a:ln>
            <a:solid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22960" y="4892040"/>
            <a:ext cx="10515600" cy="8686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730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Organic Growth Loop   </a:t>
            </a:r>
            <a:r>
              <a:rPr lang="en-US" sz="1500" dirty="0">
                <a:solidFill>
                  <a:srgbClr val="4338C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검색 → 쉬운 요약 콘텐츠 발견 → 서비스 유입 → 리텐션 강화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14 · 유저 획득 및 마케팅 전략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0" y="6437376"/>
            <a:ext cx="6199632" cy="2743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AI르네상스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gradFill rotWithShape="1">
          <a:gsLst>
            <a:gs pos="0">
              <a:srgbClr val="3730A3"/>
            </a:gs>
            <a:gs pos="55000">
              <a:srgbClr val="4338CA"/>
            </a:gs>
            <a:gs pos="100000">
              <a:srgbClr val="4F46E5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1828800" cy="10972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1463040" y="2011680"/>
            <a:ext cx="9601200" cy="219456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50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기술은 가장 힘든 곳에 있는 사람들의 목소리를 제일 먼저 들어야 합니다. 어렵고 복잡한 행정의 언어를, 모두가 차별 없이 누리는 일상의 언어로 완전하게 번역해내겠습니다.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463040" y="4480560"/>
            <a:ext cx="9601200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EF2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AI르네상스 팀 일동 (이진영 · 정호식 · 김경숙 · 김지선)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프로젝트를 임하는 팀의 가치관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0" y="6437376"/>
            <a:ext cx="6199632" cy="2743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/ 14 · 팀 비전 및 철학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gradFill rotWithShape="1">
          <a:gsLst>
            <a:gs pos="0">
              <a:srgbClr val="3730A3"/>
            </a:gs>
            <a:gs pos="55000">
              <a:srgbClr val="4338CA"/>
            </a:gs>
            <a:gs pos="100000">
              <a:srgbClr val="4F46E5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1371600"/>
            <a:ext cx="2011680" cy="2011680"/>
          </a:xfrm>
          <a:prstGeom prst="roundRect">
            <a:avLst>
              <a:gd name="adj" fmla="val 22727"/>
            </a:avLst>
          </a:prstGeom>
          <a:solidFill>
            <a:srgbClr val="4F46E5"/>
          </a:solidFill>
          <a:ln>
            <a:solid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74920" y="1371600"/>
            <a:ext cx="2011680" cy="20116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♥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10515600" cy="9144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 &amp; 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10515600" cy="36576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EF2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어려운 복지를 쉽게 해결하는 맞춤형 복지 혜택 알리미, 복지AI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2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 leeyob@gmail.com      ·      웹앱 데모 https://bokji-ai.vercel.app/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990</Words>
  <Application>Microsoft Office PowerPoint</Application>
  <PresentationFormat>와이드스크린</PresentationFormat>
  <Paragraphs>164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복지AI 서비스 소개</dc:title>
  <dc:subject>PptxGenJS Presentation</dc:subject>
  <dc:creator>AI르네상스</dc:creator>
  <cp:lastModifiedBy>Alex Lee</cp:lastModifiedBy>
  <cp:revision>2</cp:revision>
  <dcterms:created xsi:type="dcterms:W3CDTF">2026-06-15T08:18:36Z</dcterms:created>
  <dcterms:modified xsi:type="dcterms:W3CDTF">2026-06-15T08:22:40Z</dcterms:modified>
</cp:coreProperties>
</file>