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57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2448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복지AI 서비스 소개를 시작합니다. 어려운 행정 용어 장벽을 허무는 맞춤형 복지 혜택 알리미입니다.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번째 파트, 기획 배경과 문제 정의입니다. 수많은 복지 혜택 속에서도 정보 취약계층은 왜 혜택을 놓치고 있을까요.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기존 복지 서비스의 두 가지 핵심 페인 포인트입니다. 어려운 행정 용어 장벽, 그리고 정보 비대칭과 타이밍 상실.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사용자 중심의 직관적 화면 설계입니다. 행정 용어를 전혀 몰라도 모바일에서 한눈에 파악하는 완전 자동 매칭 화면을 제공합니다.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번째 파트, 핵심 기능과 기술 구조입니다. Google Gemini LLM과 pgvector 임베딩 기술이 만난 맞춤형 복지 솔루션.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기반 핵심 사용자 경험 세 가지입니다. 자연어 복지 상담, 쉬운 말 요약 서비스, 선제적 앱 알림.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복잡한 공공 데이터를 한곳으로 모았습니다. 복지로 중앙부처 448건, 복지로 지자체 4561건, 정부24 10962건, 합계 15981건. 매일 자동 갱신됩니다.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복지 서비스 수집 분포 분석입니다. 정부24가 68.6퍼센트로 약 3분의 2를 차지하고, 복지로 지자체가 28.5퍼센트로 우리 동네 밀착형 혜택을 보강합니다.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 개발 및 서비스 로드맵입니다. Q1 데이터 기획, Q2 AI 핵심 설계, Q3 MVP 런칭까지 구현 완료, Q4 기능 고도화는 예정입니다.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검색 지연 없는 실시간 하이브리드 RAG입니다. 1만 5981건이 모두 수집·정규화·임베딩 완료되어, 외부 API를 매번 호출하지 않고 통합 DB 내부에서 즉시 조회합니다.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지속 가능한 복지 생태계를 위한 수익화 모델입니다. B2G 지자체 협업, B2B 기업 EAP 패키지, B2C 프리미엄 부가 서비스 세 축으로 구성됩니다.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정보 소외 없는 전방위 유저 획득 및 마케팅입니다. 신뢰 기반 오프라인 기관 연계와 RAG 기반 온라인 SEO 두 축, 그리고 오가닉 그로스 루프로 성장합니다.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프로젝트를 임하는 팀의 가치관입니다. 기술은 가장 힘든 곳에 있는 사람들의 목소리를 제일 먼저 들어야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감사합니다. 어려운 복지를 쉽게 해결하는 맞춤형 복지 혜택 알리미, 복지AI였습니다. 질문 받겠습니다.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18344" y="3429000"/>
            <a:ext cx="4727972" cy="7277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500"/>
              </a:lnSpc>
              <a:buNone/>
            </a:pPr>
            <a:r>
              <a:rPr lang="en-US" sz="40000" dirty="0">
                <a:solidFill>
                  <a:srgbClr val="EFEA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♥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1143000" y="2430780"/>
            <a:ext cx="176022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6E7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BOKJI-AI · 서비스 소개자료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476625"/>
            <a:ext cx="528638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0" dirty="0">
                <a:solidFill>
                  <a:srgbClr val="E06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♥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862137" y="3169920"/>
            <a:ext cx="4949479" cy="1413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400" b="1" kern="0" spc="-456" dirty="0">
                <a:solidFill>
                  <a:srgbClr val="1C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복지AI</a:t>
            </a:r>
            <a:endParaRPr lang="en-US" sz="11400" dirty="0"/>
          </a:p>
        </p:txBody>
      </p:sp>
      <p:sp>
        <p:nvSpPr>
          <p:cNvPr id="6" name="Text 4"/>
          <p:cNvSpPr/>
          <p:nvPr/>
        </p:nvSpPr>
        <p:spPr>
          <a:xfrm>
            <a:off x="1143000" y="4850130"/>
            <a:ext cx="10791825" cy="1211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3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어려운 행정 용어 장벽을 허무는 맞춤형 복지 혜택 알리미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143000" y="6861810"/>
            <a:ext cx="327841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150" dirty="0">
                <a:solidFill>
                  <a:srgbClr val="9A95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프로젝트 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43000" y="7212330"/>
            <a:ext cx="327841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C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AI르네상스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142999" y="7543800"/>
            <a:ext cx="352176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E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이진영 · 정호식 · 김경숙 · 김지선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56216" y="6861810"/>
            <a:ext cx="9525" cy="994410"/>
          </a:xfrm>
          <a:prstGeom prst="rect">
            <a:avLst/>
          </a:prstGeom>
          <a:solidFill>
            <a:srgbClr val="E0DBD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656898" y="6861810"/>
            <a:ext cx="3344418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150" dirty="0">
                <a:solidFill>
                  <a:srgbClr val="9A95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웹앱 데모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656898" y="7212330"/>
            <a:ext cx="3344418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E9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bokji-ai.vercel.app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5C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224689"/>
            <a:ext cx="176022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kern="0" spc="495" dirty="0">
                <a:solidFill>
                  <a:srgbClr val="6F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1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1143000" y="3925729"/>
            <a:ext cx="16482060" cy="20983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800" b="1" kern="0" spc="-234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 배경 및 문제 정의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1143000" y="6519386"/>
            <a:ext cx="1236345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850" dirty="0">
                <a:solidFill>
                  <a:srgbClr val="BCD8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수많은 복지 혜택 속에서도, 왜 정보 취약계층은 혜택을 놓치고 있을까요?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1143000" y="9265920"/>
            <a:ext cx="121622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66" dirty="0">
                <a:solidFill>
                  <a:srgbClr val="5C9C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AI르네상스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31" dirty="0">
                <a:solidFill>
                  <a:srgbClr val="0E9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1 · 기획 배경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344930"/>
            <a:ext cx="180213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kern="0" spc="-90" dirty="0">
                <a:solidFill>
                  <a:srgbClr val="1C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복지 서비스의 페인 포인트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2583180"/>
            <a:ext cx="8001000" cy="4427220"/>
          </a:xfrm>
          <a:prstGeom prst="roundRect">
            <a:avLst>
              <a:gd name="adj" fmla="val 5822"/>
            </a:avLst>
          </a:prstGeom>
          <a:solidFill>
            <a:srgbClr val="FFFFFF"/>
          </a:solidFill>
          <a:ln w="7620">
            <a:solidFill>
              <a:srgbClr val="EAE7E0"/>
            </a:solidFill>
            <a:prstDash val="solid"/>
          </a:ln>
          <a:effectLst>
            <a:outerShdw blurRad="19050" dist="9525" dir="5400000" algn="bl" rotWithShape="0">
              <a:srgbClr val="1C2128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417320" y="3086100"/>
            <a:ext cx="571500" cy="571500"/>
          </a:xfrm>
          <a:prstGeom prst="roundRect">
            <a:avLst>
              <a:gd name="adj" fmla="val 26667"/>
            </a:avLst>
          </a:prstGeom>
          <a:solidFill>
            <a:srgbClr val="EAF4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379220" y="308610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0E9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417320" y="3962400"/>
            <a:ext cx="7778496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kern="0" spc="-29" dirty="0">
                <a:solidFill>
                  <a:srgbClr val="1C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어려운 행정 용어 장벽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417320" y="4617720"/>
            <a:ext cx="7283501" cy="1426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2000"/>
              </a:lnSpc>
              <a:buNone/>
            </a:pPr>
            <a:r>
              <a:rPr lang="en-US" sz="2250" dirty="0">
                <a:solidFill>
                  <a:srgbClr val="4A4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‘소득인정액’, ‘중위소득’, ‘위기사유’ 등 복잡하고 딱딱한 법적 행정 용어 때문에, 정작 도움이 필요한 정보 취약계층·고령층이 신청 초기 단계부터 큰 심리적 부담을 느끼고 포기하게 됩니다.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334500" y="2583180"/>
            <a:ext cx="8001000" cy="4427220"/>
          </a:xfrm>
          <a:prstGeom prst="roundRect">
            <a:avLst>
              <a:gd name="adj" fmla="val 5822"/>
            </a:avLst>
          </a:prstGeom>
          <a:solidFill>
            <a:srgbClr val="FFFFFF"/>
          </a:solidFill>
          <a:ln w="7620">
            <a:solidFill>
              <a:srgbClr val="EAE7E0"/>
            </a:solidFill>
            <a:prstDash val="solid"/>
          </a:ln>
          <a:effectLst>
            <a:outerShdw blurRad="19050" dist="9525" dir="5400000" algn="bl" rotWithShape="0">
              <a:srgbClr val="1C2128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799320" y="3086100"/>
            <a:ext cx="571500" cy="571500"/>
          </a:xfrm>
          <a:prstGeom prst="roundRect">
            <a:avLst>
              <a:gd name="adj" fmla="val 26667"/>
            </a:avLst>
          </a:prstGeom>
          <a:solidFill>
            <a:srgbClr val="FBED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9761220" y="308610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E06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799320" y="3962400"/>
            <a:ext cx="7778496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kern="0" spc="-29" dirty="0">
                <a:solidFill>
                  <a:srgbClr val="1C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 비대칭 · 타이밍 상실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799320" y="4617720"/>
            <a:ext cx="7283501" cy="1426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2000"/>
              </a:lnSpc>
              <a:buNone/>
            </a:pPr>
            <a:r>
              <a:rPr lang="en-US" sz="2250" dirty="0">
                <a:solidFill>
                  <a:srgbClr val="4A4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중앙부처·지자체에 파편화된 복지 사업은 </a:t>
            </a:r>
            <a:r>
              <a:rPr lang="en-US" sz="2250" b="1" dirty="0">
                <a:solidFill>
                  <a:srgbClr val="1C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15,981건 </a:t>
            </a:r>
            <a:r>
              <a:rPr lang="en-US" sz="2250" dirty="0">
                <a:solidFill>
                  <a:srgbClr val="4A4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 달합니다. 하지만 복잡한 자격 요건을 직접 매칭해 볼 시간이 없거나 방법을 몰라, 신청 마감 기한을 놓치기 일쑤입니다.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52500" y="9494520"/>
            <a:ext cx="422321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66" dirty="0">
                <a:solidFill>
                  <a:srgbClr val="AEA8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14 · 기획 배경 및 문제 정의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6195477" y="9494520"/>
            <a:ext cx="121622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66" dirty="0">
                <a:solidFill>
                  <a:srgbClr val="AEA8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AI르네상스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31" dirty="0">
                <a:solidFill>
                  <a:srgbClr val="0E9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1 · 기획 배경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344930"/>
            <a:ext cx="180213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kern="0" spc="-90" dirty="0">
                <a:solidFill>
                  <a:srgbClr val="1C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중심의 직관적 화면 설계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52500" y="2106930"/>
            <a:ext cx="18021300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400" dirty="0">
                <a:solidFill>
                  <a:srgbClr val="6E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행정 용어를 전혀 몰라도, 모바일에서 한눈에 파악하는 완전 자동 매칭 화면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52500" y="3067050"/>
            <a:ext cx="2743200" cy="5524500"/>
          </a:xfrm>
          <a:prstGeom prst="roundRect">
            <a:avLst>
              <a:gd name="adj" fmla="val 15278"/>
            </a:avLst>
          </a:prstGeom>
          <a:solidFill>
            <a:srgbClr val="FFFFFF"/>
          </a:solidFill>
          <a:ln w="7620">
            <a:solidFill>
              <a:srgbClr val="EAE7E0"/>
            </a:solidFill>
            <a:prstDash val="solid"/>
          </a:ln>
          <a:effectLst>
            <a:outerShdw blurRad="19050" dist="9525" dir="5400000" algn="bl" rotWithShape="0">
              <a:srgbClr val="1C2128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93470" y="3208020"/>
            <a:ext cx="2461260" cy="5242560"/>
          </a:xfrm>
          <a:prstGeom prst="roundRect">
            <a:avLst>
              <a:gd name="adj" fmla="val 12384"/>
            </a:avLst>
          </a:prstGeom>
          <a:solidFill>
            <a:srgbClr val="F1EF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188369" y="5242560"/>
            <a:ext cx="347663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0E9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♥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531501" y="5882640"/>
            <a:ext cx="1743587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120" dirty="0">
                <a:solidFill>
                  <a:srgbClr val="8A85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복지AI 앱 화면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836301" y="6233160"/>
            <a:ext cx="1051679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A8A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자동 매칭 UI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29100" y="3067050"/>
            <a:ext cx="6400800" cy="2609850"/>
          </a:xfrm>
          <a:prstGeom prst="roundRect">
            <a:avLst>
              <a:gd name="adj" fmla="val 8029"/>
            </a:avLst>
          </a:prstGeom>
          <a:solidFill>
            <a:srgbClr val="FFFFFF"/>
          </a:solidFill>
          <a:ln w="7620">
            <a:solidFill>
              <a:srgbClr val="EAE7E0"/>
            </a:solidFill>
            <a:prstDash val="solid"/>
          </a:ln>
          <a:effectLst>
            <a:outerShdw blurRad="19050" dist="9525" dir="5400000" algn="bl" rotWithShape="0">
              <a:srgbClr val="1C2128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617720" y="341757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EAF4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79620" y="341757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9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189220" y="3444240"/>
            <a:ext cx="201037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C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복지 상담 창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617720" y="4008120"/>
            <a:ext cx="5792267" cy="835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25" dirty="0">
                <a:solidFill>
                  <a:srgbClr val="4A4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일상 자연어로 말하면 최적의 추천 혜택을 즉시 카드로 분류합니다.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10934700" y="3067050"/>
            <a:ext cx="6400800" cy="2609850"/>
          </a:xfrm>
          <a:prstGeom prst="roundRect">
            <a:avLst>
              <a:gd name="adj" fmla="val 8029"/>
            </a:avLst>
          </a:prstGeom>
          <a:solidFill>
            <a:srgbClr val="FFFFFF"/>
          </a:solidFill>
          <a:ln w="7620">
            <a:solidFill>
              <a:srgbClr val="EAE7E0"/>
            </a:solidFill>
            <a:prstDash val="solid"/>
          </a:ln>
          <a:effectLst>
            <a:outerShdw blurRad="19050" dist="9525" dir="5400000" algn="bl" rotWithShape="0">
              <a:srgbClr val="1C2128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1323320" y="341757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EAF4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1285220" y="341757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9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94820" y="3444240"/>
            <a:ext cx="256738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C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보관함 · 체크리스트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1323320" y="4008120"/>
            <a:ext cx="6185916" cy="436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25" dirty="0">
                <a:solidFill>
                  <a:srgbClr val="4A4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서류 준비 상태와 신청 마감일을 항목별로 관리합니다.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4229100" y="5981700"/>
            <a:ext cx="6400800" cy="2609850"/>
          </a:xfrm>
          <a:prstGeom prst="roundRect">
            <a:avLst>
              <a:gd name="adj" fmla="val 8029"/>
            </a:avLst>
          </a:prstGeom>
          <a:solidFill>
            <a:srgbClr val="FFFFFF"/>
          </a:solidFill>
          <a:ln w="7620">
            <a:solidFill>
              <a:srgbClr val="EAE7E0"/>
            </a:solidFill>
            <a:prstDash val="solid"/>
          </a:ln>
          <a:effectLst>
            <a:outerShdw blurRad="19050" dist="9525" dir="5400000" algn="bl" rotWithShape="0">
              <a:srgbClr val="1C2128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617720" y="633222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EAF4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579620" y="633222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9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189220" y="6358890"/>
            <a:ext cx="160345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C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 알림 피드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617720" y="6922770"/>
            <a:ext cx="5792267" cy="835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25" dirty="0">
                <a:solidFill>
                  <a:srgbClr val="4A4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마감 임박·관심 분야 신규 혜택을 앱 알림으로 선제 안내합니다.</a:t>
            </a:r>
            <a:endParaRPr lang="en-US" sz="2025" dirty="0"/>
          </a:p>
        </p:txBody>
      </p:sp>
      <p:sp>
        <p:nvSpPr>
          <p:cNvPr id="25" name="Shape 23"/>
          <p:cNvSpPr/>
          <p:nvPr/>
        </p:nvSpPr>
        <p:spPr>
          <a:xfrm>
            <a:off x="10934700" y="5981700"/>
            <a:ext cx="6400800" cy="2609850"/>
          </a:xfrm>
          <a:prstGeom prst="roundRect">
            <a:avLst>
              <a:gd name="adj" fmla="val 8029"/>
            </a:avLst>
          </a:prstGeom>
          <a:solidFill>
            <a:srgbClr val="FFFFFF"/>
          </a:solidFill>
          <a:ln w="7620">
            <a:solidFill>
              <a:srgbClr val="EAE7E0"/>
            </a:solidFill>
            <a:prstDash val="solid"/>
          </a:ln>
          <a:effectLst>
            <a:outerShdw blurRad="19050" dist="9525" dir="5400000" algn="bl" rotWithShape="0">
              <a:srgbClr val="1C2128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11323320" y="633222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EAF4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11285220" y="633222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9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894820" y="6358890"/>
            <a:ext cx="2077164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C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 정보(프로필)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1323320" y="6922770"/>
            <a:ext cx="6185916" cy="436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25" dirty="0">
                <a:solidFill>
                  <a:srgbClr val="4A4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완성도 게이지를 채울수록 매칭 정확도가 올라갑니다.</a:t>
            </a:r>
            <a:endParaRPr lang="en-US" sz="2025" dirty="0"/>
          </a:p>
        </p:txBody>
      </p:sp>
      <p:sp>
        <p:nvSpPr>
          <p:cNvPr id="30" name="Text 28"/>
          <p:cNvSpPr/>
          <p:nvPr/>
        </p:nvSpPr>
        <p:spPr>
          <a:xfrm>
            <a:off x="952500" y="9494520"/>
            <a:ext cx="422321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66" dirty="0">
                <a:solidFill>
                  <a:srgbClr val="AEA8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14 · 기획 배경 및 문제 정의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16195477" y="9494520"/>
            <a:ext cx="121622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66" dirty="0">
                <a:solidFill>
                  <a:srgbClr val="AEA8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AI르네상스</a:t>
            </a:r>
            <a:endParaRPr lang="en-US" sz="1650" dirty="0"/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1AD5FF9E-6593-A1F0-D2B0-8C3A846D8F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288" y="2793227"/>
            <a:ext cx="2888012" cy="617882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5C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224689"/>
            <a:ext cx="176022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kern="0" spc="495" dirty="0">
                <a:solidFill>
                  <a:srgbClr val="6F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2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1143000" y="3925729"/>
            <a:ext cx="16482060" cy="20983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800" b="1" kern="0" spc="-234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기능 및 기술 구조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1143000" y="6519386"/>
            <a:ext cx="1299210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850" dirty="0">
                <a:solidFill>
                  <a:srgbClr val="BCD8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강력한 Google Gemini LLM과 pgvector 임베딩 기술이 만난 맞춤형 복지 솔루션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1143000" y="9265920"/>
            <a:ext cx="121622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66" dirty="0">
                <a:solidFill>
                  <a:srgbClr val="5C9C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AI르네상스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31" dirty="0">
                <a:solidFill>
                  <a:srgbClr val="0E9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2 · 핵심 기능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344930"/>
            <a:ext cx="180213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kern="0" spc="-90" dirty="0">
                <a:solidFill>
                  <a:srgbClr val="1C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기반 핵심 사용자 경험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2545080"/>
            <a:ext cx="5232321" cy="4396740"/>
          </a:xfrm>
          <a:prstGeom prst="roundRect">
            <a:avLst>
              <a:gd name="adj" fmla="val 5199"/>
            </a:avLst>
          </a:prstGeom>
          <a:solidFill>
            <a:srgbClr val="FFFFFF"/>
          </a:solidFill>
          <a:ln w="7620">
            <a:solidFill>
              <a:srgbClr val="EAE7E0"/>
            </a:solidFill>
            <a:prstDash val="solid"/>
          </a:ln>
          <a:effectLst>
            <a:outerShdw blurRad="19050" dist="9525" dir="5400000" algn="bl" rotWithShape="0">
              <a:srgbClr val="1C2128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360170" y="3009900"/>
            <a:ext cx="552450" cy="552450"/>
          </a:xfrm>
          <a:prstGeom prst="roundRect">
            <a:avLst>
              <a:gd name="adj" fmla="val 25862"/>
            </a:avLst>
          </a:prstGeom>
          <a:solidFill>
            <a:srgbClr val="EAF4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322070" y="3009900"/>
            <a:ext cx="62865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E9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60170" y="3829050"/>
            <a:ext cx="485867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C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자연어 복지 상담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360170" y="4419600"/>
            <a:ext cx="4549490" cy="2095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025" dirty="0">
                <a:solidFill>
                  <a:srgbClr val="4A4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“퇴사해서 월세 내기 힘들어” 같은 일상어는 물론, ‘월세’ 같은 정해진 단어가 없는 ‘집값이 버거워’ 같은 막연한 표현도 키워드+벡터 하이브리드(RRF)로 의미를 파악해 매칭합니다.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6527721" y="2545080"/>
            <a:ext cx="5232440" cy="4396740"/>
          </a:xfrm>
          <a:prstGeom prst="roundRect">
            <a:avLst>
              <a:gd name="adj" fmla="val 5199"/>
            </a:avLst>
          </a:prstGeom>
          <a:solidFill>
            <a:srgbClr val="FFFFFF"/>
          </a:solidFill>
          <a:ln w="7620">
            <a:solidFill>
              <a:srgbClr val="EAE7E0"/>
            </a:solidFill>
            <a:prstDash val="solid"/>
          </a:ln>
          <a:effectLst>
            <a:outerShdw blurRad="19050" dist="9525" dir="5400000" algn="bl" rotWithShape="0">
              <a:srgbClr val="1C2128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935391" y="3009900"/>
            <a:ext cx="552450" cy="552450"/>
          </a:xfrm>
          <a:prstGeom prst="roundRect">
            <a:avLst>
              <a:gd name="adj" fmla="val 25862"/>
            </a:avLst>
          </a:prstGeom>
          <a:solidFill>
            <a:srgbClr val="EAF4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897291" y="3009900"/>
            <a:ext cx="62865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E9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935391" y="3829050"/>
            <a:ext cx="485881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C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쉬운 말 요약 서비스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6935391" y="4419600"/>
            <a:ext cx="4549613" cy="1272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025" dirty="0">
                <a:solidFill>
                  <a:srgbClr val="4A4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복잡한 정부 공고 원문을 초등학생도 이해할 템플릿형 요약(한 줄 요약·대상자·서류·일정·용어 풀이)으로 자동 변환합니다.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12103060" y="2545080"/>
            <a:ext cx="5232440" cy="4396740"/>
          </a:xfrm>
          <a:prstGeom prst="roundRect">
            <a:avLst>
              <a:gd name="adj" fmla="val 5199"/>
            </a:avLst>
          </a:prstGeom>
          <a:solidFill>
            <a:srgbClr val="FFFFFF"/>
          </a:solidFill>
          <a:ln w="7620">
            <a:solidFill>
              <a:srgbClr val="EAE7E0"/>
            </a:solidFill>
            <a:prstDash val="solid"/>
          </a:ln>
          <a:effectLst>
            <a:outerShdw blurRad="19050" dist="9525" dir="5400000" algn="bl" rotWithShape="0">
              <a:srgbClr val="1C2128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2510731" y="3009900"/>
            <a:ext cx="552450" cy="552450"/>
          </a:xfrm>
          <a:prstGeom prst="roundRect">
            <a:avLst>
              <a:gd name="adj" fmla="val 25862"/>
            </a:avLst>
          </a:prstGeom>
          <a:solidFill>
            <a:srgbClr val="EAF4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2472631" y="3009900"/>
            <a:ext cx="62865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E9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2510731" y="3829050"/>
            <a:ext cx="485881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C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선제적 앱 알림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2510731" y="4419600"/>
            <a:ext cx="4549613" cy="1272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025" dirty="0">
                <a:solidFill>
                  <a:srgbClr val="4A4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매일 자동 동기화되는 새 공고와 사용자 프로필 조건을 매칭해, 추천 가능성이 높은 기회를 앱 알림으로 선제 안내합니다.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952500" y="9494520"/>
            <a:ext cx="422321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66" dirty="0">
                <a:solidFill>
                  <a:srgbClr val="AEA8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14 · 핵심 기능 및 기술 구조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6195477" y="9494520"/>
            <a:ext cx="121622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66" dirty="0">
                <a:solidFill>
                  <a:srgbClr val="AEA8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AI르네상스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31" dirty="0">
                <a:solidFill>
                  <a:srgbClr val="0E9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2 · 핵심 기능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344930"/>
            <a:ext cx="180213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kern="0" spc="-90" dirty="0">
                <a:solidFill>
                  <a:srgbClr val="1C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복잡한 공공 데이터, 한곳으로 모았습니다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2487930"/>
            <a:ext cx="4203621" cy="3579495"/>
          </a:xfrm>
          <a:prstGeom prst="roundRect">
            <a:avLst>
              <a:gd name="adj" fmla="val 6386"/>
            </a:avLst>
          </a:prstGeom>
          <a:solidFill>
            <a:srgbClr val="FFFFFF"/>
          </a:solidFill>
          <a:ln w="7620">
            <a:solidFill>
              <a:srgbClr val="EAE7E0"/>
            </a:solidFill>
            <a:prstDash val="solid"/>
          </a:ln>
          <a:effectLst>
            <a:outerShdw blurRad="19050" dist="9525" dir="5400000" algn="bl" rotWithShape="0">
              <a:srgbClr val="1C2128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341120" y="2914650"/>
            <a:ext cx="3769019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C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복지로 중앙부처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41120" y="3451860"/>
            <a:ext cx="3529172" cy="805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4A4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 국민을 위한 핵심 복지 정보를 중앙 시스템에서 수집합니다.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1341120" y="4562475"/>
            <a:ext cx="3426381" cy="9525"/>
          </a:xfrm>
          <a:prstGeom prst="rect">
            <a:avLst/>
          </a:prstGeom>
          <a:solidFill>
            <a:srgbClr val="EFEA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341120" y="4836795"/>
            <a:ext cx="3769019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08" dirty="0">
                <a:solidFill>
                  <a:srgbClr val="9A95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수집 규모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341120" y="5099685"/>
            <a:ext cx="3769019" cy="579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kern="0" spc="-72" dirty="0">
                <a:solidFill>
                  <a:srgbClr val="1C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448</a:t>
            </a:r>
            <a:r>
              <a:rPr lang="en-US" sz="2100" b="1" kern="0" spc="-72" dirty="0">
                <a:solidFill>
                  <a:srgbClr val="6E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5460921" y="2487930"/>
            <a:ext cx="4203740" cy="3579495"/>
          </a:xfrm>
          <a:prstGeom prst="roundRect">
            <a:avLst>
              <a:gd name="adj" fmla="val 6386"/>
            </a:avLst>
          </a:prstGeom>
          <a:solidFill>
            <a:srgbClr val="FFFFFF"/>
          </a:solidFill>
          <a:ln w="7620">
            <a:solidFill>
              <a:srgbClr val="EAE7E0"/>
            </a:solidFill>
            <a:prstDash val="solid"/>
          </a:ln>
          <a:effectLst>
            <a:outerShdw blurRad="19050" dist="9525" dir="5400000" algn="bl" rotWithShape="0">
              <a:srgbClr val="1C2128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849541" y="2914650"/>
            <a:ext cx="376915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C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복지로 지자체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849541" y="3451860"/>
            <a:ext cx="3529295" cy="805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4A4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 동네만의 특별한 혜택까지 놓치지 않도록 통합합니다.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5849541" y="4562475"/>
            <a:ext cx="3426500" cy="9525"/>
          </a:xfrm>
          <a:prstGeom prst="rect">
            <a:avLst/>
          </a:prstGeom>
          <a:solidFill>
            <a:srgbClr val="EFEA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849541" y="4836795"/>
            <a:ext cx="3769150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08" dirty="0">
                <a:solidFill>
                  <a:srgbClr val="9A95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수집 규모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849541" y="5099685"/>
            <a:ext cx="3769150" cy="579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kern="0" spc="-72" dirty="0">
                <a:solidFill>
                  <a:srgbClr val="1C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4,561</a:t>
            </a:r>
            <a:r>
              <a:rPr lang="en-US" sz="2100" b="1" kern="0" spc="-72" dirty="0">
                <a:solidFill>
                  <a:srgbClr val="6E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9969460" y="2487930"/>
            <a:ext cx="4203740" cy="3579495"/>
          </a:xfrm>
          <a:prstGeom prst="roundRect">
            <a:avLst>
              <a:gd name="adj" fmla="val 6386"/>
            </a:avLst>
          </a:prstGeom>
          <a:solidFill>
            <a:srgbClr val="FFFFFF"/>
          </a:solidFill>
          <a:ln w="7620">
            <a:solidFill>
              <a:srgbClr val="EAE7E0"/>
            </a:solidFill>
            <a:prstDash val="solid"/>
          </a:ln>
          <a:effectLst>
            <a:outerShdw blurRad="19050" dist="9525" dir="5400000" algn="bl" rotWithShape="0">
              <a:srgbClr val="1C2128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358081" y="2914650"/>
            <a:ext cx="376915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C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정부24 공공서비스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0358081" y="3451860"/>
            <a:ext cx="3529295" cy="805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4A4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분산된 다양한 공공 서비스를 하나로 묶어 통합 관리합니다.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0358081" y="4562475"/>
            <a:ext cx="3426500" cy="9525"/>
          </a:xfrm>
          <a:prstGeom prst="rect">
            <a:avLst/>
          </a:prstGeom>
          <a:solidFill>
            <a:srgbClr val="EFEA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0358081" y="4836795"/>
            <a:ext cx="3769150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08" dirty="0">
                <a:solidFill>
                  <a:srgbClr val="9A95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수집 규모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0358081" y="5099685"/>
            <a:ext cx="3769150" cy="579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kern="0" spc="-72" dirty="0">
                <a:solidFill>
                  <a:srgbClr val="1C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10,962</a:t>
            </a:r>
            <a:r>
              <a:rPr lang="en-US" sz="2100" b="1" kern="0" spc="-72" dirty="0">
                <a:solidFill>
                  <a:srgbClr val="6E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</a:t>
            </a:r>
            <a:endParaRPr lang="en-US" sz="3600" dirty="0"/>
          </a:p>
        </p:txBody>
      </p:sp>
      <p:sp>
        <p:nvSpPr>
          <p:cNvPr id="22" name="Shape 20"/>
          <p:cNvSpPr/>
          <p:nvPr/>
        </p:nvSpPr>
        <p:spPr>
          <a:xfrm>
            <a:off x="14478000" y="2487930"/>
            <a:ext cx="2857500" cy="3579495"/>
          </a:xfrm>
          <a:prstGeom prst="roundRect">
            <a:avLst>
              <a:gd name="adj" fmla="val 8000"/>
            </a:avLst>
          </a:prstGeom>
          <a:solidFill>
            <a:srgbClr val="0D5C44"/>
          </a:solidFill>
          <a:ln/>
          <a:effectLst>
            <a:outerShdw blurRad="419100" dist="171450" dir="5400000" algn="bl" rotWithShape="0">
              <a:srgbClr val="0D5C44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4859000" y="3108008"/>
            <a:ext cx="230505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180" dirty="0">
                <a:solidFill>
                  <a:srgbClr val="6F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합계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859000" y="3477578"/>
            <a:ext cx="230505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400" b="1" kern="0" spc="-162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15,981</a:t>
            </a:r>
            <a:endParaRPr lang="en-US" sz="5400" dirty="0"/>
          </a:p>
        </p:txBody>
      </p:sp>
      <p:sp>
        <p:nvSpPr>
          <p:cNvPr id="25" name="Text 23"/>
          <p:cNvSpPr/>
          <p:nvPr/>
        </p:nvSpPr>
        <p:spPr>
          <a:xfrm>
            <a:off x="14859000" y="4239578"/>
            <a:ext cx="230505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BCD8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4859000" y="4818697"/>
            <a:ext cx="21717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9FC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매일 자동 갱신 (GitHub Actions)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952500" y="9494520"/>
            <a:ext cx="422321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66" dirty="0">
                <a:solidFill>
                  <a:srgbClr val="AEA8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14 · 핵심 기능 및 기술 구조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6195477" y="9494520"/>
            <a:ext cx="121622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66" dirty="0">
                <a:solidFill>
                  <a:srgbClr val="AEA8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AI르네상스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31" dirty="0">
                <a:solidFill>
                  <a:srgbClr val="0E9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2 · 핵심 기능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344930"/>
            <a:ext cx="180213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kern="0" spc="-90" dirty="0">
                <a:solidFill>
                  <a:srgbClr val="1C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복지 서비스 수집 분포 분석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2506980"/>
            <a:ext cx="4000500" cy="4000500"/>
          </a:xfrm>
          <a:prstGeom prst="ellipse">
            <a:avLst/>
          </a:prstGeom>
          <a:solidFill>
            <a:srgbClr val="0E9E6E"/>
          </a:solidFill>
          <a:ln/>
          <a:effectLst>
            <a:outerShdw blurRad="419100" dist="171450" dir="5400000" algn="bl" rotWithShape="0">
              <a:srgbClr val="1C2128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981200" y="3535680"/>
            <a:ext cx="1943100" cy="1943100"/>
          </a:xfrm>
          <a:prstGeom prst="ellipse">
            <a:avLst/>
          </a:prstGeom>
          <a:solidFill>
            <a:srgbClr val="FAF8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2567821" y="3970020"/>
            <a:ext cx="845939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120" dirty="0">
                <a:solidFill>
                  <a:srgbClr val="9A95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총 수집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285762" y="4244340"/>
            <a:ext cx="1467374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b="1" kern="0" spc="-69" dirty="0">
                <a:solidFill>
                  <a:srgbClr val="1C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15,981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2853928" y="4770120"/>
            <a:ext cx="27384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E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867400" y="3878580"/>
            <a:ext cx="11468100" cy="9525"/>
          </a:xfrm>
          <a:prstGeom prst="rect">
            <a:avLst/>
          </a:prstGeom>
          <a:solidFill>
            <a:srgbClr val="EBE6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867400" y="3162300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0E9E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286500" y="3067050"/>
            <a:ext cx="1045274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C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정부24 공공서비스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5885808" y="2903220"/>
            <a:ext cx="1449693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700" b="1" kern="0" spc="-27" dirty="0">
                <a:solidFill>
                  <a:srgbClr val="1C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10,962</a:t>
            </a:r>
            <a:r>
              <a:rPr lang="en-US" sz="1800" b="1" kern="0" spc="-27" dirty="0">
                <a:solidFill>
                  <a:srgbClr val="6E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5885808" y="3314700"/>
            <a:ext cx="144969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E9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68.6%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867400" y="5128260"/>
            <a:ext cx="11468100" cy="9525"/>
          </a:xfrm>
          <a:prstGeom prst="rect">
            <a:avLst/>
          </a:prstGeom>
          <a:solidFill>
            <a:srgbClr val="EBE6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5867400" y="4411980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6FC4A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286500" y="4316730"/>
            <a:ext cx="1068050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C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복지로 지자체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6148447" y="4152900"/>
            <a:ext cx="1187053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700" b="1" kern="0" spc="-27" dirty="0">
                <a:solidFill>
                  <a:srgbClr val="1C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4,561</a:t>
            </a:r>
            <a:r>
              <a:rPr lang="en-US" sz="1800" b="1" kern="0" spc="-27" dirty="0">
                <a:solidFill>
                  <a:srgbClr val="6E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6148447" y="4564380"/>
            <a:ext cx="118705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F9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28.5%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867400" y="5661660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E0674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286500" y="5566410"/>
            <a:ext cx="1094898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C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복지로 중앙부처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6392525" y="5402580"/>
            <a:ext cx="942975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700" b="1" kern="0" spc="-27" dirty="0">
                <a:solidFill>
                  <a:srgbClr val="1C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448</a:t>
            </a:r>
            <a:r>
              <a:rPr lang="en-US" sz="1800" b="1" kern="0" spc="-27" dirty="0">
                <a:solidFill>
                  <a:srgbClr val="6E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6392525" y="5814060"/>
            <a:ext cx="94297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E067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2.8%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52500" y="7002780"/>
            <a:ext cx="136207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4A4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정부24가 전체의 약 2/3를 차지하며, 복지로 지자체가 ‘우리 동네’ 밀착형 혜택을 보강합니다.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952500" y="9494520"/>
            <a:ext cx="422321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66" dirty="0">
                <a:solidFill>
                  <a:srgbClr val="AEA8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14 · 핵심 기능 및 기술 구조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6195477" y="9494520"/>
            <a:ext cx="121622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66" dirty="0">
                <a:solidFill>
                  <a:srgbClr val="AEA8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AI르네상스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31" dirty="0">
                <a:solidFill>
                  <a:srgbClr val="0E9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ROADMAP · 향후 전망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344930"/>
            <a:ext cx="180213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kern="0" spc="-90" dirty="0">
                <a:solidFill>
                  <a:srgbClr val="1C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개발 및 서비스 로드맵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2545080"/>
            <a:ext cx="3895725" cy="4572000"/>
          </a:xfrm>
          <a:prstGeom prst="roundRect">
            <a:avLst>
              <a:gd name="adj" fmla="val 5379"/>
            </a:avLst>
          </a:prstGeom>
          <a:solidFill>
            <a:srgbClr val="FFFFFF"/>
          </a:solidFill>
          <a:ln w="7620">
            <a:solidFill>
              <a:srgbClr val="EAE7E0"/>
            </a:solidFill>
            <a:prstDash val="solid"/>
          </a:ln>
          <a:effectLst>
            <a:outerShdw blurRad="19050" dist="9525" dir="5400000" algn="bl" rotWithShape="0">
              <a:srgbClr val="1C2128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283970" y="2933700"/>
            <a:ext cx="3556063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E9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283970" y="3528060"/>
            <a:ext cx="3556063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C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기획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83970" y="4084320"/>
            <a:ext cx="3329768" cy="776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875" dirty="0">
                <a:solidFill>
                  <a:srgbClr val="4A4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PRD·TRD 확정, 공공 API 동기화 파이프라인 및 정규화 체계 완비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1283970" y="6278880"/>
            <a:ext cx="1762006" cy="449580"/>
          </a:xfrm>
          <a:prstGeom prst="roundRect">
            <a:avLst>
              <a:gd name="adj" fmla="val 50000"/>
            </a:avLst>
          </a:prstGeom>
          <a:solidFill>
            <a:srgbClr val="EAF4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474470" y="6423660"/>
            <a:ext cx="19454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A7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688068" y="6423660"/>
            <a:ext cx="116740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0A7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 완료</a:t>
            </a:r>
            <a:endParaRPr lang="en-US" sz="1725" dirty="0"/>
          </a:p>
        </p:txBody>
      </p:sp>
      <p:sp>
        <p:nvSpPr>
          <p:cNvPr id="11" name="Shape 9"/>
          <p:cNvSpPr/>
          <p:nvPr/>
        </p:nvSpPr>
        <p:spPr>
          <a:xfrm>
            <a:off x="5114925" y="2545080"/>
            <a:ext cx="3895725" cy="4572000"/>
          </a:xfrm>
          <a:prstGeom prst="roundRect">
            <a:avLst>
              <a:gd name="adj" fmla="val 5379"/>
            </a:avLst>
          </a:prstGeom>
          <a:solidFill>
            <a:srgbClr val="FFFFFF"/>
          </a:solidFill>
          <a:ln w="7620">
            <a:solidFill>
              <a:srgbClr val="EAE7E0"/>
            </a:solidFill>
            <a:prstDash val="solid"/>
          </a:ln>
          <a:effectLst>
            <a:outerShdw blurRad="19050" dist="9525" dir="5400000" algn="bl" rotWithShape="0">
              <a:srgbClr val="1C2128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446395" y="2933700"/>
            <a:ext cx="3556063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E9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5446395" y="3528060"/>
            <a:ext cx="3556063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C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핵심 설계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446395" y="4084320"/>
            <a:ext cx="3329768" cy="1145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875" dirty="0">
                <a:solidFill>
                  <a:srgbClr val="4A4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LLM 탑재, pgvector RAG 임베딩 및 키워드+벡터 하이브리드 검색 구현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5446395" y="6278880"/>
            <a:ext cx="1670685" cy="449580"/>
          </a:xfrm>
          <a:prstGeom prst="roundRect">
            <a:avLst>
              <a:gd name="adj" fmla="val 50000"/>
            </a:avLst>
          </a:prstGeom>
          <a:solidFill>
            <a:srgbClr val="EAF4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636895" y="6423660"/>
            <a:ext cx="19454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A7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850493" y="6374130"/>
            <a:ext cx="1167408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0A7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 완료</a:t>
            </a:r>
            <a:endParaRPr lang="en-US" sz="1725" dirty="0"/>
          </a:p>
        </p:txBody>
      </p:sp>
      <p:sp>
        <p:nvSpPr>
          <p:cNvPr id="18" name="Shape 16"/>
          <p:cNvSpPr/>
          <p:nvPr/>
        </p:nvSpPr>
        <p:spPr>
          <a:xfrm>
            <a:off x="9277350" y="2545080"/>
            <a:ext cx="3895725" cy="4572000"/>
          </a:xfrm>
          <a:prstGeom prst="roundRect">
            <a:avLst>
              <a:gd name="adj" fmla="val 5379"/>
            </a:avLst>
          </a:prstGeom>
          <a:solidFill>
            <a:srgbClr val="FFFFFF"/>
          </a:solidFill>
          <a:ln w="7620">
            <a:solidFill>
              <a:srgbClr val="EAE7E0"/>
            </a:solidFill>
            <a:prstDash val="solid"/>
          </a:ln>
          <a:effectLst>
            <a:outerShdw blurRad="19050" dist="9525" dir="5400000" algn="bl" rotWithShape="0">
              <a:srgbClr val="1C2128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9608820" y="2933700"/>
            <a:ext cx="3556063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E9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9608820" y="3528060"/>
            <a:ext cx="3556063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C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런칭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608820" y="4084320"/>
            <a:ext cx="3329768" cy="776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875" dirty="0">
                <a:solidFill>
                  <a:srgbClr val="4A4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반응형 웹앱(Vercel) 배포, 대화형 매칭 채팅·상세 카드·앱 알림 연동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9608820" y="6278880"/>
            <a:ext cx="1571506" cy="449580"/>
          </a:xfrm>
          <a:prstGeom prst="roundRect">
            <a:avLst>
              <a:gd name="adj" fmla="val 50000"/>
            </a:avLst>
          </a:prstGeom>
          <a:solidFill>
            <a:srgbClr val="EAF4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9799320" y="6423660"/>
            <a:ext cx="19454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A7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012917" y="6374130"/>
            <a:ext cx="1018937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0A7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 완료</a:t>
            </a:r>
            <a:endParaRPr lang="en-US" sz="1725" dirty="0"/>
          </a:p>
        </p:txBody>
      </p:sp>
      <p:sp>
        <p:nvSpPr>
          <p:cNvPr id="25" name="Shape 23"/>
          <p:cNvSpPr/>
          <p:nvPr/>
        </p:nvSpPr>
        <p:spPr>
          <a:xfrm>
            <a:off x="13439775" y="2545080"/>
            <a:ext cx="3895725" cy="4572000"/>
          </a:xfrm>
          <a:prstGeom prst="roundRect">
            <a:avLst>
              <a:gd name="adj" fmla="val 5379"/>
            </a:avLst>
          </a:prstGeom>
          <a:solidFill>
            <a:srgbClr val="FBF6EE"/>
          </a:solidFill>
          <a:ln w="7620">
            <a:solidFill>
              <a:srgbClr val="E2C9A8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3771245" y="2933700"/>
            <a:ext cx="3556063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8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Q4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13771245" y="3528060"/>
            <a:ext cx="3556063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C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 고도화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3771245" y="4084320"/>
            <a:ext cx="3329768" cy="776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875" dirty="0">
                <a:solidFill>
                  <a:srgbClr val="4A4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PWA·카카오 알림톡 연동, 공공 마이데이터 기반 소득·자격 자동 파싱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13771245" y="6278880"/>
            <a:ext cx="1230216" cy="449580"/>
          </a:xfrm>
          <a:prstGeom prst="roundRect">
            <a:avLst>
              <a:gd name="adj" fmla="val 50000"/>
            </a:avLst>
          </a:prstGeom>
          <a:solidFill>
            <a:srgbClr val="F6E7D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13961745" y="6423660"/>
            <a:ext cx="19454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A97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4175343" y="6374130"/>
            <a:ext cx="454939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A97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예정</a:t>
            </a:r>
            <a:endParaRPr lang="en-US" sz="1725" dirty="0"/>
          </a:p>
        </p:txBody>
      </p:sp>
      <p:sp>
        <p:nvSpPr>
          <p:cNvPr id="32" name="Text 30"/>
          <p:cNvSpPr/>
          <p:nvPr/>
        </p:nvSpPr>
        <p:spPr>
          <a:xfrm>
            <a:off x="952500" y="9494520"/>
            <a:ext cx="3448669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66" dirty="0">
                <a:solidFill>
                  <a:srgbClr val="AEA8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14 · 향후 서비스 전망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16195477" y="9494520"/>
            <a:ext cx="121622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66" dirty="0">
                <a:solidFill>
                  <a:srgbClr val="AEA8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AI르네상스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31" dirty="0">
                <a:solidFill>
                  <a:srgbClr val="0E9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 · 기술 경쟁력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344930"/>
            <a:ext cx="180213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kern="0" spc="-90" dirty="0">
                <a:solidFill>
                  <a:srgbClr val="1C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 지연 없는 실시간 하이브리드 RAG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52500" y="2449830"/>
            <a:ext cx="5029200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250" b="1" kern="0" spc="-450" dirty="0">
                <a:solidFill>
                  <a:srgbClr val="0E9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15,981</a:t>
            </a:r>
            <a:endParaRPr lang="en-US" sz="11250" dirty="0"/>
          </a:p>
        </p:txBody>
      </p:sp>
      <p:sp>
        <p:nvSpPr>
          <p:cNvPr id="5" name="Text 3"/>
          <p:cNvSpPr/>
          <p:nvPr/>
        </p:nvSpPr>
        <p:spPr>
          <a:xfrm>
            <a:off x="952500" y="3907155"/>
            <a:ext cx="50292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C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수집·정규화·임베딩 완료된 혜택 수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52500" y="4326255"/>
            <a:ext cx="50292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6E7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(벡터 임베딩 100% 적재)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952500" y="4943475"/>
            <a:ext cx="4709160" cy="21210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2000"/>
              </a:lnSpc>
              <a:buNone/>
            </a:pPr>
            <a:r>
              <a:rPr lang="en-US" sz="2025" dirty="0">
                <a:solidFill>
                  <a:srgbClr val="4A4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입력 시점에 느린 외부 공공 API를 매번 호출하지 않습니다. 매일 새벽 자동 동기화·전처리된 통합 DB 내부에서 pgvector 하이브리드 인덱싱으로 즉시 조회하여, 수 초 내에 정확한 상황 해석 상담 결과를 출력합니다.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6134100" y="2506980"/>
            <a:ext cx="11201400" cy="1491615"/>
          </a:xfrm>
          <a:prstGeom prst="roundRect">
            <a:avLst>
              <a:gd name="adj" fmla="val 12771"/>
            </a:avLst>
          </a:prstGeom>
          <a:solidFill>
            <a:srgbClr val="FFFFFF"/>
          </a:solidFill>
          <a:ln w="7620">
            <a:solidFill>
              <a:srgbClr val="EAE7E0"/>
            </a:solidFill>
            <a:prstDash val="solid"/>
          </a:ln>
          <a:effectLst>
            <a:outerShdw blurRad="19050" dist="9525" dir="5400000" algn="bl" rotWithShape="0">
              <a:srgbClr val="1C2128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503670" y="2838450"/>
            <a:ext cx="1150848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C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키워드 + 벡터 하이브리드(RRF)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6503670" y="3295650"/>
            <a:ext cx="1150848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4A4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정확 일치와 의미 검색을 결합해 사전에 없는 일상어도 매칭합니다.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6134100" y="4227195"/>
            <a:ext cx="11201400" cy="1491615"/>
          </a:xfrm>
          <a:prstGeom prst="roundRect">
            <a:avLst>
              <a:gd name="adj" fmla="val 12771"/>
            </a:avLst>
          </a:prstGeom>
          <a:solidFill>
            <a:srgbClr val="FFFFFF"/>
          </a:solidFill>
          <a:ln w="7620">
            <a:solidFill>
              <a:srgbClr val="EAE7E0"/>
            </a:solidFill>
            <a:prstDash val="solid"/>
          </a:ln>
          <a:effectLst>
            <a:outerShdw blurRad="19050" dist="9525" dir="5400000" algn="bl" rotWithShape="0">
              <a:srgbClr val="1C2128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503670" y="4558665"/>
            <a:ext cx="1150848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C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매일 자동 갱신 · 무료 운영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6503670" y="5015865"/>
            <a:ext cx="1150848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4A4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Actions로 매일 새벽 수집 + 임베딩을 자동 실행합니다.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6134100" y="5947410"/>
            <a:ext cx="11201400" cy="1491615"/>
          </a:xfrm>
          <a:prstGeom prst="roundRect">
            <a:avLst>
              <a:gd name="adj" fmla="val 12771"/>
            </a:avLst>
          </a:prstGeom>
          <a:solidFill>
            <a:srgbClr val="FFFFFF"/>
          </a:solidFill>
          <a:ln w="7620">
            <a:solidFill>
              <a:srgbClr val="EAE7E0"/>
            </a:solidFill>
            <a:prstDash val="solid"/>
          </a:ln>
          <a:effectLst>
            <a:outerShdw blurRad="19050" dist="9525" dir="5400000" algn="bl" rotWithShape="0">
              <a:srgbClr val="1C2128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503670" y="6278880"/>
            <a:ext cx="1150848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C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로그인 없는 다중 사용자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6503670" y="6736080"/>
            <a:ext cx="1150848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4A4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기기별 계정으로 여러 사용자가 동시에 각자 데이터를 사용합니다(Supabase).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52500" y="9494520"/>
            <a:ext cx="407574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66" dirty="0">
                <a:solidFill>
                  <a:srgbClr val="AEA8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14 · 기술 경쟁력 및 고도화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6195477" y="9494520"/>
            <a:ext cx="121622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66" dirty="0">
                <a:solidFill>
                  <a:srgbClr val="AEA8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AI르네상스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31" dirty="0">
                <a:solidFill>
                  <a:srgbClr val="0E9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 · 수익화 모델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344930"/>
            <a:ext cx="180213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kern="0" spc="-90" dirty="0">
                <a:solidFill>
                  <a:srgbClr val="1C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지속 가능한 복지 생태계를 위한 수익화 모델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2506980"/>
            <a:ext cx="5232321" cy="4537711"/>
          </a:xfrm>
          <a:prstGeom prst="roundRect">
            <a:avLst>
              <a:gd name="adj" fmla="val 6125"/>
            </a:avLst>
          </a:prstGeom>
          <a:solidFill>
            <a:srgbClr val="FFFFFF"/>
          </a:solidFill>
          <a:ln w="7620">
            <a:solidFill>
              <a:srgbClr val="EAE7E0"/>
            </a:solidFill>
            <a:prstDash val="solid"/>
          </a:ln>
          <a:effectLst>
            <a:outerShdw blurRad="19050" dist="9525" dir="5400000" algn="bl" rotWithShape="0">
              <a:srgbClr val="1C2128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60120" y="2514600"/>
            <a:ext cx="5217081" cy="1455420"/>
          </a:xfrm>
          <a:prstGeom prst="rect">
            <a:avLst/>
          </a:prstGeom>
          <a:solidFill>
            <a:srgbClr val="0D5C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341120" y="2838450"/>
            <a:ext cx="4900589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90" dirty="0">
                <a:solidFill>
                  <a:srgbClr val="F4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B2G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341120" y="3280410"/>
            <a:ext cx="4900589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지자체 협업 모델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41120" y="4312920"/>
            <a:ext cx="148828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25" b="1" dirty="0">
                <a:solidFill>
                  <a:srgbClr val="0E9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1566148" y="4312920"/>
            <a:ext cx="3735301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25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행정 효율화 및 자동 안내 발송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1341120" y="4914424"/>
            <a:ext cx="148828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25" b="1" dirty="0">
                <a:solidFill>
                  <a:srgbClr val="0E9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1566148" y="4914424"/>
            <a:ext cx="3337156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25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연동료 기반 구독 매출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1341120" y="5515928"/>
            <a:ext cx="148828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25" b="1" dirty="0">
                <a:solidFill>
                  <a:srgbClr val="0E9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1566148" y="5515928"/>
            <a:ext cx="3986513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25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공공 데이터 기반 맞춤 행정 지원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6527721" y="2506980"/>
            <a:ext cx="5232440" cy="4537711"/>
          </a:xfrm>
          <a:prstGeom prst="roundRect">
            <a:avLst>
              <a:gd name="adj" fmla="val 6125"/>
            </a:avLst>
          </a:prstGeom>
          <a:solidFill>
            <a:srgbClr val="FFFFFF"/>
          </a:solidFill>
          <a:ln w="7620">
            <a:solidFill>
              <a:srgbClr val="EAE7E0"/>
            </a:solidFill>
            <a:prstDash val="solid"/>
          </a:ln>
          <a:effectLst>
            <a:outerShdw blurRad="19050" dist="9525" dir="5400000" algn="bl" rotWithShape="0">
              <a:srgbClr val="1C2128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535341" y="2514600"/>
            <a:ext cx="5217200" cy="1455420"/>
          </a:xfrm>
          <a:prstGeom prst="rect">
            <a:avLst/>
          </a:prstGeom>
          <a:solidFill>
            <a:srgbClr val="0E9E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916341" y="2838450"/>
            <a:ext cx="490072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9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B2B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6916341" y="3280410"/>
            <a:ext cx="490072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 EAP 패키지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916341" y="4312920"/>
            <a:ext cx="148828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25" b="1" dirty="0">
                <a:solidFill>
                  <a:srgbClr val="0E9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7141369" y="4312920"/>
            <a:ext cx="3960448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25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주거·돌봄·교육 복지 원스톱 매칭</a:t>
            </a:r>
            <a:endParaRPr lang="en-US" sz="2025" dirty="0"/>
          </a:p>
        </p:txBody>
      </p:sp>
      <p:sp>
        <p:nvSpPr>
          <p:cNvPr id="20" name="Text 18"/>
          <p:cNvSpPr/>
          <p:nvPr/>
        </p:nvSpPr>
        <p:spPr>
          <a:xfrm>
            <a:off x="6916341" y="4914424"/>
            <a:ext cx="148828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25" b="1" dirty="0">
                <a:solidFill>
                  <a:srgbClr val="0E9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025" dirty="0"/>
          </a:p>
        </p:txBody>
      </p:sp>
      <p:sp>
        <p:nvSpPr>
          <p:cNvPr id="21" name="Text 19"/>
          <p:cNvSpPr/>
          <p:nvPr/>
        </p:nvSpPr>
        <p:spPr>
          <a:xfrm>
            <a:off x="7141369" y="4914424"/>
            <a:ext cx="3602688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25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혜택 확인 및 신청 연동</a:t>
            </a:r>
            <a:endParaRPr lang="en-US" sz="2025" dirty="0"/>
          </a:p>
        </p:txBody>
      </p:sp>
      <p:sp>
        <p:nvSpPr>
          <p:cNvPr id="22" name="Text 20"/>
          <p:cNvSpPr/>
          <p:nvPr/>
        </p:nvSpPr>
        <p:spPr>
          <a:xfrm>
            <a:off x="6916341" y="5515928"/>
            <a:ext cx="148828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25" b="1" dirty="0">
                <a:solidFill>
                  <a:srgbClr val="0E9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025" dirty="0"/>
          </a:p>
        </p:txBody>
      </p:sp>
      <p:sp>
        <p:nvSpPr>
          <p:cNvPr id="23" name="Text 21"/>
          <p:cNvSpPr/>
          <p:nvPr/>
        </p:nvSpPr>
        <p:spPr>
          <a:xfrm>
            <a:off x="7141369" y="5515928"/>
            <a:ext cx="4081464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25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기업별 맞춤 임직원 복지 큐레이션</a:t>
            </a:r>
            <a:endParaRPr lang="en-US" sz="2025" dirty="0"/>
          </a:p>
        </p:txBody>
      </p:sp>
      <p:sp>
        <p:nvSpPr>
          <p:cNvPr id="24" name="Shape 22"/>
          <p:cNvSpPr/>
          <p:nvPr/>
        </p:nvSpPr>
        <p:spPr>
          <a:xfrm>
            <a:off x="12103060" y="2506980"/>
            <a:ext cx="5232440" cy="4537711"/>
          </a:xfrm>
          <a:prstGeom prst="roundRect">
            <a:avLst>
              <a:gd name="adj" fmla="val 6125"/>
            </a:avLst>
          </a:prstGeom>
          <a:solidFill>
            <a:srgbClr val="FFFFFF"/>
          </a:solidFill>
          <a:ln w="7620">
            <a:solidFill>
              <a:srgbClr val="EAE7E0"/>
            </a:solidFill>
            <a:prstDash val="solid"/>
          </a:ln>
          <a:effectLst>
            <a:outerShdw blurRad="19050" dist="9525" dir="5400000" algn="bl" rotWithShape="0">
              <a:srgbClr val="1C2128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12110681" y="2514600"/>
            <a:ext cx="5217200" cy="1455420"/>
          </a:xfrm>
          <a:prstGeom prst="rect">
            <a:avLst/>
          </a:prstGeom>
          <a:solidFill>
            <a:srgbClr val="E0674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2491681" y="2838450"/>
            <a:ext cx="490072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9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B2C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12491681" y="3280410"/>
            <a:ext cx="490072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프리미엄 부가 서비스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2491681" y="4312920"/>
            <a:ext cx="148828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25" b="1" dirty="0">
                <a:solidFill>
                  <a:srgbClr val="E06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025" dirty="0"/>
          </a:p>
        </p:txBody>
      </p:sp>
      <p:sp>
        <p:nvSpPr>
          <p:cNvPr id="29" name="Text 27"/>
          <p:cNvSpPr/>
          <p:nvPr/>
        </p:nvSpPr>
        <p:spPr>
          <a:xfrm>
            <a:off x="12716709" y="4312920"/>
            <a:ext cx="3478768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25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증빙 서류 원클릭 준비 대행</a:t>
            </a:r>
            <a:endParaRPr lang="en-US" sz="2025" dirty="0"/>
          </a:p>
        </p:txBody>
      </p:sp>
      <p:sp>
        <p:nvSpPr>
          <p:cNvPr id="30" name="Text 28"/>
          <p:cNvSpPr/>
          <p:nvPr/>
        </p:nvSpPr>
        <p:spPr>
          <a:xfrm>
            <a:off x="12491681" y="4914424"/>
            <a:ext cx="148828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25" b="1" dirty="0">
                <a:solidFill>
                  <a:srgbClr val="E06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025" dirty="0"/>
          </a:p>
        </p:txBody>
      </p:sp>
      <p:sp>
        <p:nvSpPr>
          <p:cNvPr id="31" name="Text 29"/>
          <p:cNvSpPr/>
          <p:nvPr/>
        </p:nvSpPr>
        <p:spPr>
          <a:xfrm>
            <a:off x="12716708" y="4914424"/>
            <a:ext cx="4005143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25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전문 사회복지사 1:1 상담 매칭</a:t>
            </a:r>
            <a:endParaRPr lang="en-US" sz="2025" dirty="0"/>
          </a:p>
        </p:txBody>
      </p:sp>
      <p:sp>
        <p:nvSpPr>
          <p:cNvPr id="32" name="Text 30"/>
          <p:cNvSpPr/>
          <p:nvPr/>
        </p:nvSpPr>
        <p:spPr>
          <a:xfrm>
            <a:off x="12491681" y="5515928"/>
            <a:ext cx="148828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25" b="1" dirty="0">
                <a:solidFill>
                  <a:srgbClr val="E06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025" dirty="0"/>
          </a:p>
        </p:txBody>
      </p:sp>
      <p:sp>
        <p:nvSpPr>
          <p:cNvPr id="33" name="Text 31"/>
          <p:cNvSpPr/>
          <p:nvPr/>
        </p:nvSpPr>
        <p:spPr>
          <a:xfrm>
            <a:off x="12716709" y="5515928"/>
            <a:ext cx="3795500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25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마이데이터 기반 자격 자동 파싱</a:t>
            </a:r>
            <a:endParaRPr lang="en-US" sz="2025" dirty="0"/>
          </a:p>
        </p:txBody>
      </p:sp>
      <p:sp>
        <p:nvSpPr>
          <p:cNvPr id="34" name="Text 32"/>
          <p:cNvSpPr/>
          <p:nvPr/>
        </p:nvSpPr>
        <p:spPr>
          <a:xfrm>
            <a:off x="952500" y="9494520"/>
            <a:ext cx="431542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66" dirty="0">
                <a:solidFill>
                  <a:srgbClr val="AEA8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14 · 비즈니스 모델 및 수익화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16195477" y="9494520"/>
            <a:ext cx="121622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66" dirty="0">
                <a:solidFill>
                  <a:srgbClr val="AEA8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AI르네상스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31" dirty="0">
                <a:solidFill>
                  <a:srgbClr val="0E9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GROWTH · 마케팅 전략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344930"/>
            <a:ext cx="180213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kern="0" spc="-90" dirty="0">
                <a:solidFill>
                  <a:srgbClr val="1C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 소외 없는 전방위 유저 획득 및 마케팅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2430780"/>
            <a:ext cx="8020050" cy="3469005"/>
          </a:xfrm>
          <a:prstGeom prst="roundRect">
            <a:avLst>
              <a:gd name="adj" fmla="val 6590"/>
            </a:avLst>
          </a:prstGeom>
          <a:solidFill>
            <a:srgbClr val="FFFFFF"/>
          </a:solidFill>
          <a:ln w="7620">
            <a:solidFill>
              <a:srgbClr val="EAE7E0"/>
            </a:solidFill>
            <a:prstDash val="solid"/>
          </a:ln>
          <a:effectLst>
            <a:outerShdw blurRad="19050" dist="9525" dir="5400000" algn="bl" rotWithShape="0">
              <a:srgbClr val="1C2128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379220" y="2943225"/>
            <a:ext cx="133350" cy="133350"/>
          </a:xfrm>
          <a:prstGeom prst="ellipse">
            <a:avLst/>
          </a:prstGeom>
          <a:solidFill>
            <a:srgbClr val="E0674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664970" y="2891790"/>
            <a:ext cx="110323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165" dirty="0">
                <a:solidFill>
                  <a:srgbClr val="9A95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OFFLINE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2844403" y="2819400"/>
            <a:ext cx="274168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C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오프라인 연계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379220" y="3448050"/>
            <a:ext cx="148828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25" b="1" dirty="0">
                <a:solidFill>
                  <a:srgbClr val="0E9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1604247" y="3448050"/>
            <a:ext cx="3981843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25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신뢰 기반 오프라인 기관 연계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1379220" y="4011454"/>
            <a:ext cx="148828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25" b="1" dirty="0">
                <a:solidFill>
                  <a:srgbClr val="0E9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1604248" y="4011454"/>
            <a:ext cx="5710952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25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복지관·시·구청·주민센터 QR 리플렛 비치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1379220" y="4574858"/>
            <a:ext cx="148828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25" b="1" dirty="0">
                <a:solidFill>
                  <a:srgbClr val="0E9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1604247" y="4574858"/>
            <a:ext cx="5612131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25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일선 복지사 대상 전용 상담 도구 무상 지원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1379220" y="5138261"/>
            <a:ext cx="148828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25" b="1" dirty="0">
                <a:solidFill>
                  <a:srgbClr val="0E9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1604248" y="5138261"/>
            <a:ext cx="4979598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25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취약계층 밀착형 신뢰 네트워크 구축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9315450" y="2430780"/>
            <a:ext cx="8020050" cy="3469005"/>
          </a:xfrm>
          <a:prstGeom prst="roundRect">
            <a:avLst>
              <a:gd name="adj" fmla="val 6590"/>
            </a:avLst>
          </a:prstGeom>
          <a:solidFill>
            <a:srgbClr val="FFFFFF"/>
          </a:solidFill>
          <a:ln w="7620">
            <a:solidFill>
              <a:srgbClr val="EAE7E0"/>
            </a:solidFill>
            <a:prstDash val="solid"/>
          </a:ln>
          <a:effectLst>
            <a:outerShdw blurRad="19050" dist="9525" dir="5400000" algn="bl" rotWithShape="0">
              <a:srgbClr val="1C2128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9742170" y="2943225"/>
            <a:ext cx="133350" cy="133350"/>
          </a:xfrm>
          <a:prstGeom prst="ellipse">
            <a:avLst/>
          </a:prstGeom>
          <a:solidFill>
            <a:srgbClr val="0E9E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0027920" y="2891790"/>
            <a:ext cx="956548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165" dirty="0">
                <a:solidFill>
                  <a:srgbClr val="9A95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ONLINE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1060668" y="2819400"/>
            <a:ext cx="252336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C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온라인 SEO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9742170" y="3448050"/>
            <a:ext cx="148828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25" b="1" dirty="0">
                <a:solidFill>
                  <a:srgbClr val="0E9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025" dirty="0"/>
          </a:p>
        </p:txBody>
      </p:sp>
      <p:sp>
        <p:nvSpPr>
          <p:cNvPr id="21" name="Text 19"/>
          <p:cNvSpPr/>
          <p:nvPr/>
        </p:nvSpPr>
        <p:spPr>
          <a:xfrm>
            <a:off x="9967199" y="3448050"/>
            <a:ext cx="4521160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25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기반 자연어 키워드 마케팅</a:t>
            </a:r>
            <a:endParaRPr lang="en-US" sz="2025" dirty="0"/>
          </a:p>
        </p:txBody>
      </p:sp>
      <p:sp>
        <p:nvSpPr>
          <p:cNvPr id="22" name="Text 20"/>
          <p:cNvSpPr/>
          <p:nvPr/>
        </p:nvSpPr>
        <p:spPr>
          <a:xfrm>
            <a:off x="9742170" y="4011454"/>
            <a:ext cx="148828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25" b="1" dirty="0">
                <a:solidFill>
                  <a:srgbClr val="0E9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025" dirty="0"/>
          </a:p>
        </p:txBody>
      </p:sp>
      <p:sp>
        <p:nvSpPr>
          <p:cNvPr id="23" name="Text 21"/>
          <p:cNvSpPr/>
          <p:nvPr/>
        </p:nvSpPr>
        <p:spPr>
          <a:xfrm>
            <a:off x="9967199" y="4011454"/>
            <a:ext cx="6028175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25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“퇴사 실업급여 조건”, “청년 월세” 등 검색 의도 공략</a:t>
            </a:r>
            <a:endParaRPr lang="en-US" sz="2025" dirty="0"/>
          </a:p>
        </p:txBody>
      </p:sp>
      <p:sp>
        <p:nvSpPr>
          <p:cNvPr id="24" name="Text 22"/>
          <p:cNvSpPr/>
          <p:nvPr/>
        </p:nvSpPr>
        <p:spPr>
          <a:xfrm>
            <a:off x="9742170" y="4574858"/>
            <a:ext cx="148828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25" b="1" dirty="0">
                <a:solidFill>
                  <a:srgbClr val="0E9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025" dirty="0"/>
          </a:p>
        </p:txBody>
      </p:sp>
      <p:sp>
        <p:nvSpPr>
          <p:cNvPr id="25" name="Text 23"/>
          <p:cNvSpPr/>
          <p:nvPr/>
        </p:nvSpPr>
        <p:spPr>
          <a:xfrm>
            <a:off x="9967199" y="4574858"/>
            <a:ext cx="4842510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25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‘쉬운 말 요약’ 콘텐츠의 검색 상단 노출</a:t>
            </a:r>
            <a:endParaRPr lang="en-US" sz="2025" dirty="0"/>
          </a:p>
        </p:txBody>
      </p:sp>
      <p:sp>
        <p:nvSpPr>
          <p:cNvPr id="26" name="Text 24"/>
          <p:cNvSpPr/>
          <p:nvPr/>
        </p:nvSpPr>
        <p:spPr>
          <a:xfrm>
            <a:off x="9742170" y="5138261"/>
            <a:ext cx="148828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25" b="1" dirty="0">
                <a:solidFill>
                  <a:srgbClr val="0E9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025" dirty="0"/>
          </a:p>
        </p:txBody>
      </p:sp>
      <p:sp>
        <p:nvSpPr>
          <p:cNvPr id="27" name="Text 25"/>
          <p:cNvSpPr/>
          <p:nvPr/>
        </p:nvSpPr>
        <p:spPr>
          <a:xfrm>
            <a:off x="9967199" y="5138261"/>
            <a:ext cx="4636697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25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개인화 답변으로 유기적 트래픽 확보</a:t>
            </a:r>
            <a:endParaRPr lang="en-US" sz="2025" dirty="0"/>
          </a:p>
        </p:txBody>
      </p:sp>
      <p:sp>
        <p:nvSpPr>
          <p:cNvPr id="28" name="Shape 26"/>
          <p:cNvSpPr/>
          <p:nvPr/>
        </p:nvSpPr>
        <p:spPr>
          <a:xfrm>
            <a:off x="952500" y="6242685"/>
            <a:ext cx="16383000" cy="922020"/>
          </a:xfrm>
          <a:prstGeom prst="roundRect">
            <a:avLst>
              <a:gd name="adj" fmla="val 22727"/>
            </a:avLst>
          </a:prstGeom>
          <a:solidFill>
            <a:srgbClr val="0D5C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1409700" y="6555105"/>
            <a:ext cx="315333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6F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ORGANIC GROWTH LOOP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657368" y="6547485"/>
            <a:ext cx="1624162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검색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802160" y="6547485"/>
            <a:ext cx="32135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6F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7892580" y="6547485"/>
            <a:ext cx="2731522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쉬운 요약 콘텐츠 발견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1169610" y="6547485"/>
            <a:ext cx="32135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6F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12175799" y="6520939"/>
            <a:ext cx="1610973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 유입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14488359" y="6547485"/>
            <a:ext cx="32135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6F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15511296" y="6555105"/>
            <a:ext cx="1538888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리텐션 강화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52500" y="9494520"/>
            <a:ext cx="4462891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66" dirty="0">
                <a:solidFill>
                  <a:srgbClr val="AEA8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14 · 유저 획득 및 마케팅 전략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16195477" y="9494520"/>
            <a:ext cx="121622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66" dirty="0">
                <a:solidFill>
                  <a:srgbClr val="AEA8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AI르네상스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5C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35596" y="2289148"/>
            <a:ext cx="167640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60000"/>
              </a:lnSpc>
              <a:buNone/>
            </a:pPr>
            <a:r>
              <a:rPr lang="en-US" sz="12000" b="1" dirty="0">
                <a:solidFill>
                  <a:srgbClr val="1B7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1524000" y="2851620"/>
            <a:ext cx="14716125" cy="2358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4200" b="1" kern="0" spc="-84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기술은 가장 힘든 곳에 있는 사람들의 목소리를 제일 먼저 들어야 합니다. 어렵고 복잡한 행정의 언어를, 모두가 차별 없이 누리는 </a:t>
            </a:r>
            <a:r>
              <a:rPr lang="en-US" sz="4200" b="1" kern="0" spc="-84" dirty="0">
                <a:solidFill>
                  <a:srgbClr val="6F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일상의 언어로 완전하게 번역 </a:t>
            </a:r>
            <a:r>
              <a:rPr lang="en-US" sz="4200" b="1" kern="0" spc="-84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해내겠습니다.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524000" y="6002077"/>
            <a:ext cx="457200" cy="19050"/>
          </a:xfrm>
          <a:prstGeom prst="rect">
            <a:avLst/>
          </a:prstGeom>
          <a:solidFill>
            <a:srgbClr val="6FD6A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171700" y="5840152"/>
            <a:ext cx="662426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BCD8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AI르네상스 팀 일동 (이진영 · 정호식 · 김경숙 · 김지선)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524000" y="9265920"/>
            <a:ext cx="355907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66" dirty="0">
                <a:solidFill>
                  <a:srgbClr val="5C9C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프로젝트를 임하는 팀의 가치관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3712666" y="9265920"/>
            <a:ext cx="3356467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66" dirty="0">
                <a:solidFill>
                  <a:srgbClr val="5C9C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14 · 팀 비전 및 철학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18344" y="3429000"/>
            <a:ext cx="4727972" cy="7277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500"/>
              </a:lnSpc>
              <a:buNone/>
            </a:pPr>
            <a:r>
              <a:rPr lang="en-US" sz="40000" dirty="0">
                <a:solidFill>
                  <a:srgbClr val="EFEA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♥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1143000" y="3566160"/>
            <a:ext cx="48339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400" dirty="0">
                <a:solidFill>
                  <a:srgbClr val="E06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♥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816894" y="3275647"/>
            <a:ext cx="3613297" cy="1304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500" b="1" kern="0" spc="-315" dirty="0">
                <a:solidFill>
                  <a:srgbClr val="1C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10500" dirty="0"/>
          </a:p>
        </p:txBody>
      </p:sp>
      <p:sp>
        <p:nvSpPr>
          <p:cNvPr id="5" name="Text 3"/>
          <p:cNvSpPr/>
          <p:nvPr/>
        </p:nvSpPr>
        <p:spPr>
          <a:xfrm>
            <a:off x="1143000" y="4923473"/>
            <a:ext cx="125730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30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어려운 복지를 쉽게 해결하는 맞춤형 복지 혜택 알리미, </a:t>
            </a:r>
            <a:r>
              <a:rPr lang="en-US" sz="3000" b="1" dirty="0">
                <a:solidFill>
                  <a:srgbClr val="0E9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복지AI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43000" y="6295073"/>
            <a:ext cx="176022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150" dirty="0">
                <a:solidFill>
                  <a:srgbClr val="9A95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웹앱 데모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6645593"/>
            <a:ext cx="176022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E9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bokji-ai.vercel.app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1368</Words>
  <Application>Microsoft Office PowerPoint</Application>
  <PresentationFormat>사용자 지정</PresentationFormat>
  <Paragraphs>235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Arial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Alex Lee</cp:lastModifiedBy>
  <cp:revision>3</cp:revision>
  <dcterms:created xsi:type="dcterms:W3CDTF">2026-06-16T01:04:40Z</dcterms:created>
  <dcterms:modified xsi:type="dcterms:W3CDTF">2026-06-16T01:11:42Z</dcterms:modified>
</cp:coreProperties>
</file>